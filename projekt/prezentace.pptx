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8" r:id="rId3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81197" autoAdjust="0"/>
  </p:normalViewPr>
  <p:slideViewPr>
    <p:cSldViewPr snapToGrid="0" snapToObjects="1">
      <p:cViewPr varScale="1">
        <p:scale>
          <a:sx n="170" d="100"/>
          <a:sy n="170" d="100"/>
        </p:scale>
        <p:origin x="1524" y="13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B41CE-39CE-43B9-B2A7-D901D79FDA02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7E960-06A7-44BB-AC5F-C423D5BC8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51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b="1" i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Kachní křivka (</a:t>
            </a:r>
            <a:r>
              <a:rPr lang="cs-CZ" sz="1200" b="1" i="0" kern="1200" noProof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duck</a:t>
            </a:r>
            <a:r>
              <a:rPr lang="cs-CZ" sz="1200" b="1" i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1" i="0" kern="1200" noProof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curve</a:t>
            </a:r>
            <a:r>
              <a:rPr lang="cs-CZ" sz="1200" b="1" i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cs-CZ" sz="1200" b="0" i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termín z energetiky, který popisuje tvar denní křivky </a:t>
            </a:r>
            <a:r>
              <a:rPr lang="cs-CZ" sz="1200" b="1" i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 </a:t>
            </a:r>
            <a:r>
              <a:rPr lang="cs-CZ" sz="1200" b="1" i="0" kern="1200" noProof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loadu</a:t>
            </a:r>
            <a:r>
              <a:rPr lang="cs-CZ" sz="1200" b="0" i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(čistého zatížení sítě = spotřeba minus solární výroba) u sítí s vysokým podílem fotovoltaiky.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Proč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ten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tvar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připomíná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kachnu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Ráno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(6–9 h)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lidé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probouzejí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spotřeba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roste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krk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kachny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cs-C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Poledne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(10–15 h)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slunce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svítí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FVE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vyrábí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hodně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net load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výrazně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klesá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břicho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kachny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cs-C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Večer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(18–21 h)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slunce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zapadá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lidé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vaří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svítí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pouští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TV →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spotřeba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vrcholí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pokrýt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síť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ocas/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krk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kachny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prudký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nárůst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cs-C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nízká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spotřeba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Proč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to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problém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Strmý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večerní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ramp-up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síť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během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~3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hodin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dodat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obrovský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výkon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protože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FVE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přes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nefunguje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vyžaduje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rychlé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zálohy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plyn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baterie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pumpované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elektrárny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cs-C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Přebytky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poledne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v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letních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dnech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FVE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někdy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vyrobí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síť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spotřebuje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záporné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odstavování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zdrojů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cs-C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Ekonomika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klasické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zdroje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uhlí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jádro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špatně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přizpůsobují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těmto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skokům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tlačí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bateriová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úložiště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flexibilní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tarify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cs-CZ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7E960-06A7-44BB-AC5F-C423D5BC869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62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rPr lang="cs-CZ" noProof="0" dirty="0" err="1"/>
              <a:t>EcoHome</a:t>
            </a:r>
            <a:r>
              <a:rPr lang="cs-CZ" noProof="0" dirty="0"/>
              <a:t> a.s.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cs-CZ" noProof="0" dirty="0"/>
              <a:t>Datový produkt pro optimalizaci spotřeby domácností s FVE</a:t>
            </a:r>
            <a:br>
              <a:rPr lang="cs-CZ" noProof="0" dirty="0"/>
            </a:br>
            <a:br>
              <a:rPr lang="cs-CZ" noProof="0" dirty="0"/>
            </a:br>
            <a:r>
              <a:rPr lang="cs-CZ" noProof="0" dirty="0"/>
              <a:t>xhero003 · xherp003 · xvebv002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199" y="4767263"/>
            <a:ext cx="2443985" cy="273844"/>
          </a:xfrm>
        </p:spPr>
        <p:txBody>
          <a:bodyPr/>
          <a:lstStyle/>
          <a:p>
            <a:pPr marL="0" lvl="0" indent="0">
              <a:buNone/>
            </a:pPr>
            <a:r>
              <a:rPr lang="cs-CZ" noProof="0" dirty="0"/>
              <a:t>Zpracování velkých dat · PEF ČZU · LS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Obsah prezentace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noProof="0" dirty="0"/>
              <a:t>Firma </a:t>
            </a:r>
            <a:r>
              <a:rPr lang="cs-CZ" noProof="0" dirty="0" err="1"/>
              <a:t>EcoHome</a:t>
            </a:r>
            <a:r>
              <a:rPr lang="cs-CZ" noProof="0" dirty="0"/>
              <a:t> a.s. a cíl projektu</a:t>
            </a:r>
          </a:p>
          <a:p>
            <a:pPr lvl="0"/>
            <a:r>
              <a:rPr lang="cs-CZ" noProof="0" dirty="0"/>
              <a:t>Definovaná KPI (GDR, PLC, DQS)</a:t>
            </a:r>
          </a:p>
          <a:p>
            <a:pPr lvl="0"/>
            <a:r>
              <a:rPr lang="cs-CZ" noProof="0" dirty="0"/>
              <a:t>Architektura datové platformy</a:t>
            </a:r>
          </a:p>
          <a:p>
            <a:pPr lvl="0"/>
            <a:r>
              <a:rPr lang="cs-CZ" noProof="0" dirty="0"/>
              <a:t>Zdroje dat a </a:t>
            </a:r>
            <a:r>
              <a:rPr lang="cs-CZ" noProof="0" dirty="0" err="1"/>
              <a:t>DuckDB</a:t>
            </a:r>
            <a:endParaRPr lang="cs-CZ" noProof="0" dirty="0"/>
          </a:p>
          <a:p>
            <a:pPr lvl="0"/>
            <a:r>
              <a:rPr lang="cs-CZ" noProof="0" dirty="0"/>
              <a:t>Klíčová zjištění EDA (7 grafů)</a:t>
            </a:r>
          </a:p>
          <a:p>
            <a:pPr lvl="0"/>
            <a:r>
              <a:rPr lang="cs-CZ" noProof="0" dirty="0"/>
              <a:t>Limity řešení a doporučení</a:t>
            </a:r>
          </a:p>
          <a:p>
            <a:pPr lvl="0"/>
            <a:r>
              <a:rPr lang="cs-CZ" noProof="0" dirty="0"/>
              <a:t>Metodika a využití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 err="1"/>
              <a:t>EcoHome</a:t>
            </a:r>
            <a:r>
              <a:rPr lang="cs-CZ" noProof="0" dirty="0"/>
              <a:t> a.s. </a:t>
            </a:r>
            <a:r>
              <a:rPr lang="cs-CZ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— fiktivní zadavatel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noProof="0" dirty="0"/>
              <a:t>Firma zabývající se </a:t>
            </a:r>
            <a:r>
              <a:rPr lang="cs-CZ" b="1" noProof="0" dirty="0"/>
              <a:t>optimalizací energetické spotřeby domácností</a:t>
            </a:r>
            <a:r>
              <a:rPr lang="cs-CZ" noProof="0" dirty="0"/>
              <a:t> s fotovoltaickými panely.</a:t>
            </a:r>
          </a:p>
          <a:p>
            <a:pPr lvl="0"/>
            <a:r>
              <a:rPr lang="cs-CZ" noProof="0" dirty="0"/>
              <a:t>Provozuje síť </a:t>
            </a:r>
            <a:r>
              <a:rPr lang="cs-CZ" noProof="0" dirty="0" err="1"/>
              <a:t>smart</a:t>
            </a:r>
            <a:r>
              <a:rPr lang="cs-CZ" noProof="0" dirty="0"/>
              <a:t> </a:t>
            </a:r>
            <a:r>
              <a:rPr lang="cs-CZ" noProof="0" dirty="0" err="1"/>
              <a:t>meterů</a:t>
            </a:r>
            <a:r>
              <a:rPr lang="cs-CZ" noProof="0" dirty="0"/>
              <a:t> (senzorů spotřeby a výroby) v </a:t>
            </a:r>
            <a:r>
              <a:rPr lang="cs-CZ" b="1" noProof="0" dirty="0"/>
              <a:t>1 000 domácnostech</a:t>
            </a:r>
            <a:r>
              <a:rPr lang="cs-CZ" noProof="0" dirty="0"/>
              <a:t> v Praze.</a:t>
            </a:r>
          </a:p>
          <a:p>
            <a:pPr lvl="0"/>
            <a:r>
              <a:rPr lang="cs-CZ" noProof="0" dirty="0"/>
              <a:t>Chce na základě dat navrhnout:</a:t>
            </a:r>
          </a:p>
          <a:p>
            <a:pPr lvl="1"/>
            <a:r>
              <a:rPr lang="cs-CZ" noProof="0" dirty="0"/>
              <a:t>cílenou optimalizaci nákladů ve špičce,</a:t>
            </a:r>
          </a:p>
          <a:p>
            <a:pPr lvl="1"/>
            <a:r>
              <a:rPr lang="cs-CZ" noProof="0" dirty="0"/>
              <a:t>predikci závislosti na síti podle počasí,</a:t>
            </a:r>
          </a:p>
          <a:p>
            <a:pPr lvl="1"/>
            <a:r>
              <a:rPr lang="cs-CZ" noProof="0" dirty="0"/>
              <a:t>detekci vadných senzorů.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Cíl projektu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Navrhnout a realizovat datový produkt pokrývající </a:t>
            </a:r>
            <a:r>
              <a:rPr lang="cs-CZ" b="1" noProof="0" dirty="0"/>
              <a:t>celý mini-</a:t>
            </a:r>
            <a:r>
              <a:rPr lang="cs-CZ" b="1" noProof="0" dirty="0" err="1"/>
              <a:t>lifecycle</a:t>
            </a:r>
            <a:r>
              <a:rPr lang="cs-CZ" b="1" noProof="0" dirty="0"/>
              <a:t> dat</a:t>
            </a:r>
            <a:r>
              <a:rPr lang="cs-CZ" noProof="0" dirty="0"/>
              <a:t>:</a:t>
            </a:r>
          </a:p>
          <a:p>
            <a:pPr marL="342900" lvl="0" indent="-342900">
              <a:buAutoNum type="arabicPeriod"/>
            </a:pPr>
            <a:r>
              <a:rPr lang="cs-CZ" noProof="0" dirty="0"/>
              <a:t>Získání zdrojových dat (</a:t>
            </a:r>
            <a:r>
              <a:rPr lang="cs-CZ" noProof="0" dirty="0" err="1"/>
              <a:t>meteo</a:t>
            </a:r>
            <a:r>
              <a:rPr lang="cs-CZ" noProof="0" dirty="0"/>
              <a:t> + </a:t>
            </a:r>
            <a:r>
              <a:rPr lang="cs-CZ" noProof="0" dirty="0" err="1"/>
              <a:t>smart</a:t>
            </a:r>
            <a:r>
              <a:rPr lang="cs-CZ" noProof="0" dirty="0"/>
              <a:t> meter).</a:t>
            </a:r>
          </a:p>
          <a:p>
            <a:pPr marL="342900" lvl="0" indent="-342900">
              <a:buAutoNum type="arabicPeriod"/>
            </a:pPr>
            <a:r>
              <a:rPr lang="cs-CZ" noProof="0" dirty="0"/>
              <a:t>Integrace do analytické databáze (</a:t>
            </a:r>
            <a:r>
              <a:rPr lang="cs-CZ" noProof="0" dirty="0" err="1"/>
              <a:t>DuckDB</a:t>
            </a:r>
            <a:r>
              <a:rPr lang="cs-CZ" noProof="0" dirty="0"/>
              <a:t>).</a:t>
            </a:r>
          </a:p>
          <a:p>
            <a:pPr marL="342900" lvl="0" indent="-342900">
              <a:buAutoNum type="arabicPeriod"/>
            </a:pPr>
            <a:r>
              <a:rPr lang="cs-CZ" noProof="0" dirty="0"/>
              <a:t>Explorační analýza (EDA) navázaná na KPI.</a:t>
            </a:r>
          </a:p>
          <a:p>
            <a:pPr marL="342900" lvl="0" indent="-342900">
              <a:buAutoNum type="arabicPeriod"/>
            </a:pPr>
            <a:r>
              <a:rPr lang="cs-CZ" noProof="0" dirty="0"/>
              <a:t>Vizualizace a interpretace zjištění.</a:t>
            </a:r>
          </a:p>
          <a:p>
            <a:pPr marL="342900" lvl="0" indent="-342900">
              <a:buAutoNum type="arabicPeriod"/>
            </a:pPr>
            <a:r>
              <a:rPr lang="cs-CZ" noProof="0" dirty="0"/>
              <a:t>Doporučení pro další rozvoj.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Definovaná KPI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4883062"/>
              </p:ext>
            </p:extLst>
          </p:nvPr>
        </p:nvGraphicFramePr>
        <p:xfrm>
          <a:off x="457200" y="1193800"/>
          <a:ext cx="8229600" cy="139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cs-CZ" noProof="0" dirty="0"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cs-CZ" noProof="0" dirty="0"/>
                        <a:t>Název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cs-CZ" noProof="0" dirty="0"/>
                        <a:t>Definice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cs-CZ" b="1" noProof="0" dirty="0"/>
                        <a:t>GDR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cs-CZ" noProof="0" dirty="0" err="1"/>
                        <a:t>Grid</a:t>
                      </a:r>
                      <a:r>
                        <a:rPr lang="cs-CZ" noProof="0" dirty="0"/>
                        <a:t> </a:t>
                      </a:r>
                      <a:r>
                        <a:rPr lang="cs-CZ" noProof="0" dirty="0" err="1"/>
                        <a:t>Dependency</a:t>
                      </a:r>
                      <a:r>
                        <a:rPr lang="cs-CZ" noProof="0" dirty="0"/>
                        <a:t>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cs-CZ" noProof="0" dirty="0">
                          <a:latin typeface="Courier"/>
                        </a:rPr>
                        <a:t>1 − (solární výroba / spotřeba)</a:t>
                      </a:r>
                      <a:r>
                        <a:rPr lang="cs-CZ" noProof="0" dirty="0"/>
                        <a:t> — závislost na síti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cs-CZ" b="1" noProof="0" dirty="0"/>
                        <a:t>PLC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cs-CZ" noProof="0" dirty="0" err="1"/>
                        <a:t>Peak</a:t>
                      </a:r>
                      <a:r>
                        <a:rPr lang="cs-CZ" noProof="0" dirty="0"/>
                        <a:t> </a:t>
                      </a:r>
                      <a:r>
                        <a:rPr lang="cs-CZ" noProof="0" dirty="0" err="1"/>
                        <a:t>Load</a:t>
                      </a:r>
                      <a:r>
                        <a:rPr lang="cs-CZ" noProof="0" dirty="0"/>
                        <a:t> </a:t>
                      </a:r>
                      <a:r>
                        <a:rPr lang="cs-CZ" noProof="0" dirty="0" err="1"/>
                        <a:t>Cost</a:t>
                      </a:r>
                      <a:endParaRPr lang="cs-CZ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cs-CZ" noProof="0" dirty="0"/>
                        <a:t>Náklady ve špičce (18:00–21:00) při 5 CZK/kWh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cs-CZ" b="1" noProof="0" dirty="0"/>
                        <a:t>DQS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cs-CZ" noProof="0" dirty="0"/>
                        <a:t>Data </a:t>
                      </a:r>
                      <a:r>
                        <a:rPr lang="cs-CZ" noProof="0" dirty="0" err="1"/>
                        <a:t>Quality</a:t>
                      </a:r>
                      <a:r>
                        <a:rPr lang="cs-CZ" noProof="0" dirty="0"/>
                        <a:t> </a:t>
                      </a:r>
                      <a:r>
                        <a:rPr lang="cs-CZ" noProof="0" dirty="0" err="1"/>
                        <a:t>Score</a:t>
                      </a:r>
                      <a:endParaRPr lang="cs-CZ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cs-CZ" noProof="0" dirty="0"/>
                        <a:t>Podíl validních měření ze senzorů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Architektura</a:t>
            </a:r>
          </a:p>
        </p:txBody>
      </p:sp>
      <p:pic>
        <p:nvPicPr>
          <p:cNvPr id="3" name="Picture 1" descr="../FINAL/xhero003-xherp003-xvebv002/pruvodni-dokumentace/high_lvl_archuitektura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97000" y="1193800"/>
            <a:ext cx="636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Datový tok</a:t>
            </a:r>
          </a:p>
        </p:txBody>
      </p:sp>
      <p:pic>
        <p:nvPicPr>
          <p:cNvPr id="3" name="Picture 1" descr="data-and-info/datovytok.drawio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90800" y="1193800"/>
            <a:ext cx="396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Zdroje 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cs-CZ" b="1" noProof="0" dirty="0"/>
              <a:t>Reálná meteorologická data</a:t>
            </a:r>
            <a:r>
              <a:rPr lang="cs-CZ" noProof="0" dirty="0"/>
              <a:t> — Open-</a:t>
            </a:r>
            <a:r>
              <a:rPr lang="cs-CZ" noProof="0" dirty="0" err="1"/>
              <a:t>Meteo</a:t>
            </a:r>
            <a:r>
              <a:rPr lang="cs-CZ" noProof="0" dirty="0"/>
              <a:t> Archive API</a:t>
            </a:r>
          </a:p>
          <a:p>
            <a:pPr lvl="1"/>
            <a:r>
              <a:rPr lang="cs-CZ" noProof="0" dirty="0"/>
              <a:t>Praha, rok 2023, hodinová </a:t>
            </a:r>
            <a:r>
              <a:rPr lang="cs-CZ" noProof="0" dirty="0" err="1"/>
              <a:t>granularita</a:t>
            </a:r>
            <a:endParaRPr lang="cs-CZ" noProof="0" dirty="0"/>
          </a:p>
          <a:p>
            <a:pPr lvl="1"/>
            <a:r>
              <a:rPr lang="cs-CZ" noProof="0" dirty="0"/>
              <a:t>teplota, oblačnost, srážky, vítr, solární iradiace</a:t>
            </a:r>
          </a:p>
          <a:p>
            <a:pPr lvl="0"/>
            <a:r>
              <a:rPr lang="cs-CZ" b="1" noProof="0" dirty="0"/>
              <a:t>Syntetická </a:t>
            </a:r>
            <a:r>
              <a:rPr lang="cs-CZ" b="1" noProof="0" dirty="0" err="1"/>
              <a:t>smart</a:t>
            </a:r>
            <a:r>
              <a:rPr lang="cs-CZ" b="1" noProof="0" dirty="0"/>
              <a:t> meter data</a:t>
            </a:r>
            <a:r>
              <a:rPr lang="cs-CZ" noProof="0" dirty="0"/>
              <a:t> — vlastní generátor </a:t>
            </a:r>
            <a:r>
              <a:rPr lang="cs-CZ" noProof="0" dirty="0">
                <a:latin typeface="Courier"/>
              </a:rPr>
              <a:t>generate_data.py</a:t>
            </a:r>
          </a:p>
          <a:p>
            <a:pPr lvl="1"/>
            <a:r>
              <a:rPr lang="cs-CZ" noProof="0" dirty="0"/>
              <a:t>1 000 domácností × 8 760 hodin ≈ </a:t>
            </a:r>
            <a:r>
              <a:rPr lang="cs-CZ" b="1" noProof="0" dirty="0"/>
              <a:t>8,76 mil. záznamů</a:t>
            </a:r>
          </a:p>
          <a:p>
            <a:pPr lvl="1"/>
            <a:r>
              <a:rPr lang="cs-CZ" noProof="0" dirty="0"/>
              <a:t>realistické vzory: kachní křivka, sezónnost, korelace s počasím, šum, výpadky</a:t>
            </a:r>
          </a:p>
          <a:p>
            <a:pPr lvl="0"/>
            <a:r>
              <a:rPr lang="cs-CZ" noProof="0" dirty="0"/>
              <a:t>Oba zdroje propojeny přes </a:t>
            </a:r>
            <a:r>
              <a:rPr lang="cs-CZ" noProof="0" dirty="0" err="1">
                <a:latin typeface="Courier"/>
              </a:rPr>
              <a:t>timestamp</a:t>
            </a:r>
            <a:r>
              <a:rPr lang="cs-CZ" noProof="0" dirty="0"/>
              <a:t> v </a:t>
            </a:r>
            <a:r>
              <a:rPr lang="cs-CZ" noProof="0" dirty="0" err="1"/>
              <a:t>DuckDB</a:t>
            </a:r>
            <a:r>
              <a:rPr lang="cs-CZ" noProof="0" dirty="0"/>
              <a:t> (</a:t>
            </a:r>
            <a:r>
              <a:rPr lang="cs-CZ" noProof="0" dirty="0" err="1"/>
              <a:t>view</a:t>
            </a:r>
            <a:r>
              <a:rPr lang="cs-CZ" noProof="0" dirty="0"/>
              <a:t> </a:t>
            </a:r>
            <a:r>
              <a:rPr lang="cs-CZ" noProof="0" dirty="0" err="1">
                <a:latin typeface="Courier"/>
              </a:rPr>
              <a:t>v_net_load</a:t>
            </a:r>
            <a:r>
              <a:rPr lang="cs-CZ" noProof="0" dirty="0"/>
              <a:t>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 err="1"/>
              <a:t>DuckDB</a:t>
            </a:r>
            <a:r>
              <a:rPr lang="cs-CZ" noProof="0" dirty="0"/>
              <a:t> - tabulky</a:t>
            </a:r>
          </a:p>
        </p:txBody>
      </p:sp>
      <p:pic>
        <p:nvPicPr>
          <p:cNvPr id="3" name="Picture 1" descr="duckdb-obrazky/tabulky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193800"/>
            <a:ext cx="6007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 err="1"/>
              <a:t>DuckDB</a:t>
            </a:r>
            <a:r>
              <a:rPr lang="cs-CZ" noProof="0" dirty="0"/>
              <a:t> UI — přehled dat</a:t>
            </a:r>
          </a:p>
        </p:txBody>
      </p:sp>
      <p:pic>
        <p:nvPicPr>
          <p:cNvPr id="3" name="Picture 1" descr="duckdb-obrazky/Screenshot%202026-04-06_0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193800"/>
            <a:ext cx="6007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 err="1"/>
              <a:t>DuckDB</a:t>
            </a:r>
            <a:r>
              <a:rPr lang="cs-CZ" noProof="0" dirty="0"/>
              <a:t> UI — dotazy nad daty</a:t>
            </a:r>
          </a:p>
        </p:txBody>
      </p:sp>
      <p:pic>
        <p:nvPicPr>
          <p:cNvPr id="3" name="Picture 1" descr="duckdb-obrazky/Screenshot%202026-04-06_0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 err="1"/>
              <a:t>DuckDB</a:t>
            </a:r>
            <a:r>
              <a:rPr lang="cs-CZ" noProof="0" dirty="0"/>
              <a:t> UI — analytický pohled</a:t>
            </a:r>
          </a:p>
        </p:txBody>
      </p:sp>
      <p:pic>
        <p:nvPicPr>
          <p:cNvPr id="3" name="Picture 1" descr="duckdb-obrazky/Screenshot%202026-04-06_0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494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Graf 1 — Vývoj GDR v čase</a:t>
            </a:r>
          </a:p>
        </p:txBody>
      </p:sp>
      <p:pic>
        <p:nvPicPr>
          <p:cNvPr id="3" name="Picture 1" descr="output/graf_01_gdr_trend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30300" y="1193800"/>
            <a:ext cx="687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b="1" noProof="0" dirty="0"/>
              <a:t>Zjištění:</a:t>
            </a:r>
            <a:r>
              <a:rPr lang="cs-CZ" noProof="0" dirty="0"/>
              <a:t> </a:t>
            </a:r>
          </a:p>
          <a:p>
            <a:r>
              <a:rPr lang="cs-CZ" noProof="0" dirty="0"/>
              <a:t>silná sezónnost:</a:t>
            </a:r>
            <a:endParaRPr lang="en-US" noProof="0" dirty="0"/>
          </a:p>
          <a:p>
            <a:pPr lvl="1"/>
            <a:r>
              <a:rPr lang="cs-CZ" noProof="0" dirty="0"/>
              <a:t>v létě pod 60 % </a:t>
            </a:r>
            <a:endParaRPr lang="en-US" noProof="0" dirty="0"/>
          </a:p>
          <a:p>
            <a:pPr lvl="1"/>
            <a:r>
              <a:rPr lang="cs-CZ" noProof="0" dirty="0"/>
              <a:t>v zimě 90–95 %. </a:t>
            </a:r>
            <a:endParaRPr lang="en-US" noProof="0" dirty="0"/>
          </a:p>
          <a:p>
            <a:r>
              <a:rPr lang="cs-CZ" noProof="0" dirty="0"/>
              <a:t>→ KPI: GDR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E3A26-EA4C-C51E-0404-0D3AE326A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cs-CZ" noProof="0" dirty="0"/>
              <a:t>Graf 1 — Vývoj GDR v čase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Graf 2 — Oblačnost vs. solární výroba</a:t>
            </a:r>
          </a:p>
        </p:txBody>
      </p:sp>
      <p:pic>
        <p:nvPicPr>
          <p:cNvPr id="3" name="Picture 1" descr="output/graf_02_oblacnost_sola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71600" y="1193800"/>
            <a:ext cx="6388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b="1" noProof="0" dirty="0"/>
              <a:t>Zjištění:</a:t>
            </a:r>
            <a:r>
              <a:rPr lang="cs-CZ" noProof="0" dirty="0"/>
              <a:t> </a:t>
            </a:r>
          </a:p>
          <a:p>
            <a:r>
              <a:rPr lang="cs-CZ" noProof="0" dirty="0"/>
              <a:t>inverzní vztah. </a:t>
            </a:r>
          </a:p>
          <a:p>
            <a:r>
              <a:rPr lang="cs-CZ" noProof="0" dirty="0"/>
              <a:t>Nad 80 % oblačnosti je výroba blízká nule</a:t>
            </a:r>
            <a:r>
              <a:rPr lang="en-US" noProof="0" dirty="0"/>
              <a:t>.</a:t>
            </a:r>
          </a:p>
          <a:p>
            <a:r>
              <a:rPr lang="cs-CZ" noProof="0" dirty="0"/>
              <a:t>→ KPI: GDR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EA0C68-4F17-6C57-1A27-EC2D8A547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cs-CZ" noProof="0" dirty="0"/>
              <a:t>Graf 2 — Oblačnost vs. solární výroba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Graf 3 — Kachní křivka (denní profil)</a:t>
            </a:r>
          </a:p>
        </p:txBody>
      </p:sp>
      <p:pic>
        <p:nvPicPr>
          <p:cNvPr id="3" name="Picture 1" descr="output/graf_03_kachni_krivka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193800"/>
            <a:ext cx="8039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b="1" noProof="0" dirty="0"/>
              <a:t>Zjištění:</a:t>
            </a:r>
            <a:r>
              <a:rPr lang="cs-CZ" noProof="0" dirty="0"/>
              <a:t> </a:t>
            </a:r>
          </a:p>
          <a:p>
            <a:r>
              <a:rPr lang="cs-CZ" noProof="0" dirty="0"/>
              <a:t>večerní špička 18:00–21:00 generuje nejvyšší net </a:t>
            </a:r>
            <a:r>
              <a:rPr lang="cs-CZ" noProof="0" dirty="0" err="1"/>
              <a:t>load</a:t>
            </a:r>
            <a:r>
              <a:rPr lang="cs-CZ" noProof="0" dirty="0"/>
              <a:t>.</a:t>
            </a:r>
            <a:endParaRPr lang="en-US" noProof="0" dirty="0"/>
          </a:p>
          <a:p>
            <a:r>
              <a:rPr lang="cs-CZ" noProof="0" dirty="0"/>
              <a:t>→ KPI: PLC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18CA60-FEE7-81DF-1435-5B0FF48A5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cs-CZ" noProof="0" dirty="0"/>
              <a:t>Graf 3 — Kachní křivka (denní profil)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Graf 4 — Distribuce PLC</a:t>
            </a:r>
          </a:p>
        </p:txBody>
      </p:sp>
      <p:pic>
        <p:nvPicPr>
          <p:cNvPr id="3" name="Picture 1" descr="output/graf_04_plc_distribuc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30300" y="1193800"/>
            <a:ext cx="687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b="1" noProof="0" dirty="0"/>
              <a:t>Zjištění:</a:t>
            </a:r>
            <a:r>
              <a:rPr lang="cs-CZ" noProof="0" dirty="0"/>
              <a:t> </a:t>
            </a:r>
          </a:p>
          <a:p>
            <a:r>
              <a:rPr lang="cs-CZ" noProof="0" dirty="0"/>
              <a:t>Pravá strana grafu — existují dny s extrémně vysokými náklady ve špičce. </a:t>
            </a:r>
          </a:p>
          <a:p>
            <a:r>
              <a:rPr lang="cs-CZ" noProof="0" dirty="0"/>
              <a:t>→ KPI: PLC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A868E-2347-EEA4-F82E-D7F9F1148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cs-CZ" noProof="0" dirty="0"/>
              <a:t>Graf 4 — Distribuce PLC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Graf 5 — </a:t>
            </a:r>
            <a:r>
              <a:rPr lang="cs-CZ" noProof="0" dirty="0" err="1"/>
              <a:t>Outliery</a:t>
            </a:r>
            <a:r>
              <a:rPr lang="cs-CZ" noProof="0" dirty="0"/>
              <a:t> ve spotřebě</a:t>
            </a:r>
          </a:p>
        </p:txBody>
      </p:sp>
      <p:pic>
        <p:nvPicPr>
          <p:cNvPr id="3" name="Picture 1" descr="output/graf_05_outliery_spotreba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3000" y="1193800"/>
            <a:ext cx="6858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b="1" noProof="0" dirty="0"/>
              <a:t>Zjištění:</a:t>
            </a:r>
            <a:r>
              <a:rPr lang="cs-CZ" noProof="0" dirty="0"/>
              <a:t> </a:t>
            </a:r>
          </a:p>
          <a:p>
            <a:r>
              <a:rPr lang="cs-CZ" noProof="0" dirty="0"/>
              <a:t>~0,5 % extrémních hodnot, 5–15× normálu. </a:t>
            </a:r>
            <a:endParaRPr lang="en-US" noProof="0" dirty="0"/>
          </a:p>
          <a:p>
            <a:pPr lvl="1"/>
            <a:r>
              <a:rPr lang="cs-CZ" noProof="0" dirty="0"/>
              <a:t>Nutná filtrace. </a:t>
            </a:r>
            <a:endParaRPr lang="cs-CZ" dirty="0"/>
          </a:p>
          <a:p>
            <a:r>
              <a:rPr lang="cs-CZ" noProof="0" dirty="0"/>
              <a:t>→ KPI: DQS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2EDB2-D89A-AAB3-4A6A-A371C5291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cs-CZ" noProof="0" dirty="0"/>
              <a:t>Graf 5 — </a:t>
            </a:r>
            <a:r>
              <a:rPr lang="cs-CZ" noProof="0" dirty="0" err="1"/>
              <a:t>Outliery</a:t>
            </a:r>
            <a:r>
              <a:rPr lang="cs-CZ" noProof="0" dirty="0"/>
              <a:t> ve spotřebě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Graf 6 — Vývoj DQS v čase</a:t>
            </a:r>
          </a:p>
        </p:txBody>
      </p:sp>
      <p:pic>
        <p:nvPicPr>
          <p:cNvPr id="3" name="Picture 1" descr="output/graf_06_dqs_vyvoj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193800"/>
            <a:ext cx="8039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b="1" noProof="0" dirty="0"/>
              <a:t>Zjištění:</a:t>
            </a:r>
            <a:r>
              <a:rPr lang="cs-CZ" noProof="0" dirty="0"/>
              <a:t> </a:t>
            </a:r>
          </a:p>
          <a:p>
            <a:r>
              <a:rPr lang="cs-CZ" noProof="0" dirty="0"/>
              <a:t>průměrně nad 90 %, ale s kolísáním. </a:t>
            </a:r>
          </a:p>
          <a:p>
            <a:pPr lvl="1"/>
            <a:r>
              <a:rPr lang="cs-CZ" noProof="0" dirty="0"/>
              <a:t>~5 % výpadků. </a:t>
            </a:r>
          </a:p>
          <a:p>
            <a:r>
              <a:rPr lang="cs-CZ" noProof="0" dirty="0"/>
              <a:t>→ KPI: DQS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693E3-B744-C888-D8D6-A3970B2EF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cs-CZ" noProof="0" dirty="0"/>
              <a:t>Graf 6 — Vývoj DQS v čase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Graf 7 — Spotřeba (log. škála)</a:t>
            </a:r>
          </a:p>
        </p:txBody>
      </p:sp>
      <p:pic>
        <p:nvPicPr>
          <p:cNvPr id="3" name="Picture 1" descr="output/graf_07_spotreba_log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3000" y="1193800"/>
            <a:ext cx="6858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b="1" noProof="0" dirty="0"/>
              <a:t>Zjištění:</a:t>
            </a:r>
            <a:r>
              <a:rPr lang="cs-CZ" noProof="0" dirty="0"/>
              <a:t> </a:t>
            </a:r>
          </a:p>
          <a:p>
            <a:r>
              <a:rPr lang="cs-CZ" noProof="0" dirty="0"/>
              <a:t>log-normální charakter. </a:t>
            </a:r>
          </a:p>
          <a:p>
            <a:r>
              <a:rPr lang="cs-CZ" noProof="0" dirty="0"/>
              <a:t>Medián × průměr se výrazně liší.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5C27D-268D-3C7A-62BF-F458B751C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cs-CZ" noProof="0" dirty="0"/>
              <a:t>Graf 7 — Spotřeba (log. škála)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Shrnutí klíčových zjištění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lang="cs-CZ" b="1" noProof="0" dirty="0"/>
              <a:t>GDR</a:t>
            </a:r>
            <a:r>
              <a:rPr lang="cs-CZ" noProof="0" dirty="0"/>
              <a:t> má silnou sezónnost — domácnosti jsou závislé na síti hlavně v zimě.</a:t>
            </a:r>
          </a:p>
          <a:p>
            <a:pPr marL="342900" lvl="0" indent="-342900">
              <a:buAutoNum type="arabicPeriod"/>
            </a:pPr>
            <a:r>
              <a:rPr lang="cs-CZ" b="1" noProof="0" dirty="0"/>
              <a:t>Večerní špička (18–21 h)</a:t>
            </a:r>
            <a:r>
              <a:rPr lang="cs-CZ" noProof="0" dirty="0"/>
              <a:t> potvrzuje „kachní křivku“ — cíl pro baterie / posun spotřeby.</a:t>
            </a:r>
          </a:p>
          <a:p>
            <a:pPr marL="342900" lvl="0" indent="-342900">
              <a:buAutoNum type="arabicPeriod"/>
            </a:pPr>
            <a:r>
              <a:rPr lang="cs-CZ" b="1" noProof="0" dirty="0"/>
              <a:t>Oblačnost</a:t>
            </a:r>
            <a:r>
              <a:rPr lang="cs-CZ" noProof="0" dirty="0"/>
              <a:t> je klíčový prediktor solární výroby.</a:t>
            </a:r>
          </a:p>
          <a:p>
            <a:pPr marL="342900" lvl="0" indent="-342900">
              <a:buAutoNum type="arabicPeriod"/>
            </a:pPr>
            <a:r>
              <a:rPr lang="cs-CZ" b="1" noProof="0" dirty="0"/>
              <a:t>Senzory</a:t>
            </a:r>
            <a:r>
              <a:rPr lang="cs-CZ" noProof="0" dirty="0"/>
              <a:t>: ~5 % výpadků a ~0,5 % </a:t>
            </a:r>
            <a:r>
              <a:rPr lang="cs-CZ" noProof="0" dirty="0" err="1"/>
              <a:t>outlierů</a:t>
            </a:r>
            <a:r>
              <a:rPr lang="cs-CZ" noProof="0" dirty="0"/>
              <a:t> → DQS průměr &gt; 90 %.</a:t>
            </a:r>
          </a:p>
          <a:p>
            <a:pPr marL="342900" lvl="0" indent="-342900">
              <a:buAutoNum type="arabicPeriod"/>
            </a:pPr>
            <a:r>
              <a:rPr lang="cs-CZ" b="1" noProof="0" dirty="0"/>
              <a:t>PLC</a:t>
            </a:r>
            <a:r>
              <a:rPr lang="cs-CZ" noProof="0" dirty="0"/>
              <a:t> je vysoce variabilní — pravá strana distribuce.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Limity řešení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b="1" noProof="0" dirty="0"/>
              <a:t>Syntetická data</a:t>
            </a:r>
            <a:r>
              <a:rPr lang="cs-CZ" noProof="0" dirty="0"/>
              <a:t> — nezachycují reálné chování (cena, dovolené, klimatizace).</a:t>
            </a:r>
          </a:p>
          <a:p>
            <a:pPr lvl="0"/>
            <a:r>
              <a:rPr lang="cs-CZ" b="1" noProof="0" dirty="0"/>
              <a:t>Jedna lokalita (Praha)</a:t>
            </a:r>
            <a:r>
              <a:rPr lang="cs-CZ" noProof="0" dirty="0"/>
              <a:t> — nepřenositelné na jiné regiony.</a:t>
            </a:r>
          </a:p>
          <a:p>
            <a:pPr lvl="0"/>
            <a:r>
              <a:rPr lang="cs-CZ" b="1" noProof="0" dirty="0"/>
              <a:t>Časový rozsah 1 rok</a:t>
            </a:r>
            <a:r>
              <a:rPr lang="cs-CZ" noProof="0" dirty="0"/>
              <a:t> — bez meziročních trendů.</a:t>
            </a:r>
          </a:p>
          <a:p>
            <a:pPr lvl="0"/>
            <a:r>
              <a:rPr lang="cs-CZ" b="1" noProof="0" dirty="0"/>
              <a:t>Uniformní domácnosti</a:t>
            </a:r>
            <a:r>
              <a:rPr lang="cs-CZ" noProof="0" dirty="0"/>
              <a:t> — reálná populace je heterogenní.</a:t>
            </a:r>
          </a:p>
          <a:p>
            <a:pPr lvl="0"/>
            <a:r>
              <a:rPr lang="cs-CZ" b="1" noProof="0" dirty="0"/>
              <a:t>Zjednodušený tarif</a:t>
            </a:r>
            <a:r>
              <a:rPr lang="cs-CZ" noProof="0" dirty="0"/>
              <a:t> — fixní 5 CZK/kWh místo dynamické tarifní struktury.</a:t>
            </a:r>
          </a:p>
          <a:p>
            <a:pPr lvl="0"/>
            <a:r>
              <a:rPr lang="cs-CZ" b="1" noProof="0" dirty="0"/>
              <a:t>INNER JOIN</a:t>
            </a:r>
            <a:r>
              <a:rPr lang="cs-CZ" noProof="0" dirty="0"/>
              <a:t> — nezohledňuje časové posuny mezi zdroji.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Doporučení a budoucnost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cs-CZ" b="1" noProof="0" dirty="0"/>
              <a:t>Predikce spotřeby</a:t>
            </a:r>
            <a:r>
              <a:rPr lang="cs-CZ" noProof="0" dirty="0"/>
              <a:t> — </a:t>
            </a:r>
            <a:r>
              <a:rPr lang="cs-CZ" noProof="0" dirty="0" err="1"/>
              <a:t>Prophet</a:t>
            </a:r>
            <a:r>
              <a:rPr lang="cs-CZ" noProof="0" dirty="0"/>
              <a:t> / LSTM pro optimalizaci nákupu elektřiny.</a:t>
            </a:r>
          </a:p>
          <a:p>
            <a:pPr lvl="0"/>
            <a:r>
              <a:rPr lang="cs-CZ" b="1" noProof="0" dirty="0"/>
              <a:t>Automatická detekce anomálií</a:t>
            </a:r>
            <a:r>
              <a:rPr lang="cs-CZ" noProof="0" dirty="0"/>
              <a:t> — </a:t>
            </a:r>
            <a:r>
              <a:rPr lang="cs-CZ" noProof="0" dirty="0" err="1"/>
              <a:t>Isolation</a:t>
            </a:r>
            <a:r>
              <a:rPr lang="cs-CZ" noProof="0" dirty="0"/>
              <a:t> </a:t>
            </a:r>
            <a:r>
              <a:rPr lang="cs-CZ" noProof="0" dirty="0" err="1"/>
              <a:t>Forest</a:t>
            </a:r>
            <a:r>
              <a:rPr lang="cs-CZ" noProof="0" dirty="0"/>
              <a:t> / </a:t>
            </a:r>
            <a:r>
              <a:rPr lang="cs-CZ" noProof="0" dirty="0" err="1"/>
              <a:t>autoencoder</a:t>
            </a:r>
            <a:r>
              <a:rPr lang="cs-CZ" noProof="0" dirty="0"/>
              <a:t> místo IQR.</a:t>
            </a:r>
          </a:p>
          <a:p>
            <a:pPr lvl="0"/>
            <a:r>
              <a:rPr lang="cs-CZ" b="1" noProof="0" dirty="0"/>
              <a:t>Dynamické KPI prahy</a:t>
            </a:r>
            <a:r>
              <a:rPr lang="cs-CZ" noProof="0" dirty="0"/>
              <a:t> — adaptivní cíle podle sezóny a počasí.</a:t>
            </a:r>
          </a:p>
          <a:p>
            <a:pPr lvl="0"/>
            <a:r>
              <a:rPr lang="cs-CZ" b="1" noProof="0" dirty="0"/>
              <a:t>Škálování</a:t>
            </a:r>
            <a:r>
              <a:rPr lang="cs-CZ" noProof="0" dirty="0"/>
              <a:t> — přechod z </a:t>
            </a:r>
            <a:r>
              <a:rPr lang="cs-CZ" noProof="0" dirty="0" err="1"/>
              <a:t>DuckDB</a:t>
            </a:r>
            <a:r>
              <a:rPr lang="cs-CZ" noProof="0" dirty="0"/>
              <a:t> na </a:t>
            </a:r>
            <a:r>
              <a:rPr lang="cs-CZ" noProof="0" dirty="0" err="1"/>
              <a:t>Spark</a:t>
            </a:r>
            <a:r>
              <a:rPr lang="cs-CZ" noProof="0" dirty="0"/>
              <a:t> / cloud DWH při statisících domácností.</a:t>
            </a:r>
          </a:p>
          <a:p>
            <a:pPr lvl="0"/>
            <a:r>
              <a:rPr lang="cs-CZ" b="1" noProof="0" dirty="0"/>
              <a:t>Interaktivní dashboard</a:t>
            </a:r>
            <a:r>
              <a:rPr lang="cs-CZ" noProof="0" dirty="0"/>
              <a:t> — </a:t>
            </a:r>
            <a:r>
              <a:rPr lang="cs-CZ" noProof="0" dirty="0" err="1"/>
              <a:t>Tableau</a:t>
            </a:r>
            <a:r>
              <a:rPr lang="cs-CZ" noProof="0" dirty="0"/>
              <a:t> / </a:t>
            </a:r>
            <a:r>
              <a:rPr lang="cs-CZ" noProof="0" dirty="0" err="1"/>
              <a:t>Grafana</a:t>
            </a:r>
            <a:r>
              <a:rPr lang="cs-CZ" noProof="0" dirty="0"/>
              <a:t> pro operativní monitoring.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cs-CZ" noProof="0" dirty="0"/>
              <a:t>Metodika a využití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cs-CZ" noProof="0" dirty="0"/>
              <a:t>Realizováno s asistencí </a:t>
            </a:r>
            <a:r>
              <a:rPr lang="cs-CZ" b="1" noProof="0" dirty="0"/>
              <a:t>Claude </a:t>
            </a:r>
            <a:r>
              <a:rPr lang="cs-CZ" b="1" noProof="0" dirty="0" err="1"/>
              <a:t>Code</a:t>
            </a:r>
            <a:r>
              <a:rPr lang="cs-CZ" noProof="0" dirty="0"/>
              <a:t> (návrh architektury, generování kódu, </a:t>
            </a:r>
            <a:r>
              <a:rPr lang="cs-CZ" noProof="0" dirty="0" err="1"/>
              <a:t>review</a:t>
            </a:r>
            <a:r>
              <a:rPr lang="cs-CZ" noProof="0" dirty="0"/>
              <a:t> EDA).</a:t>
            </a:r>
          </a:p>
          <a:p>
            <a:pPr lvl="0"/>
            <a:r>
              <a:rPr lang="cs-CZ" noProof="0" dirty="0"/>
              <a:t>Veškerý kód </a:t>
            </a:r>
            <a:r>
              <a:rPr lang="cs-CZ" b="1" noProof="0" dirty="0"/>
              <a:t>zkontrolován a upraven týmem</a:t>
            </a:r>
            <a:r>
              <a:rPr lang="cs-CZ" noProof="0" dirty="0"/>
              <a:t>.</a:t>
            </a:r>
          </a:p>
          <a:p>
            <a:pPr lvl="0"/>
            <a:r>
              <a:rPr lang="cs-CZ" b="1" noProof="0" dirty="0"/>
              <a:t>Open-</a:t>
            </a:r>
            <a:r>
              <a:rPr lang="cs-CZ" b="1" noProof="0" dirty="0" err="1"/>
              <a:t>Meteo</a:t>
            </a:r>
            <a:r>
              <a:rPr lang="cs-CZ" noProof="0" dirty="0"/>
              <a:t> data ověřena proti ČHMÚ; syntetická data proti profilům CEPS / ERÚ.</a:t>
            </a:r>
          </a:p>
          <a:p>
            <a:pPr lvl="0"/>
            <a:r>
              <a:rPr lang="cs-CZ" noProof="0" dirty="0"/>
              <a:t>Každá buňka notebooku manuálně spuštěna a výstup zkontrolován.</a:t>
            </a:r>
          </a:p>
          <a:p>
            <a:pPr lvl="0"/>
            <a:r>
              <a:rPr lang="cs-CZ" noProof="0" dirty="0"/>
              <a:t>Rizika AI: přeučení na syntetických datech, </a:t>
            </a:r>
            <a:r>
              <a:rPr lang="cs-CZ" noProof="0" dirty="0" err="1"/>
              <a:t>bias</a:t>
            </a:r>
            <a:r>
              <a:rPr lang="cs-CZ" noProof="0" dirty="0"/>
              <a:t>, </a:t>
            </a:r>
            <a:r>
              <a:rPr lang="cs-CZ" noProof="0" dirty="0" err="1"/>
              <a:t>black</a:t>
            </a:r>
            <a:r>
              <a:rPr lang="cs-CZ" noProof="0" dirty="0"/>
              <a:t>-box → nutný monitoring driftu a </a:t>
            </a:r>
            <a:r>
              <a:rPr lang="cs-CZ" noProof="0" dirty="0" err="1"/>
              <a:t>human</a:t>
            </a:r>
            <a:r>
              <a:rPr lang="cs-CZ" noProof="0" dirty="0"/>
              <a:t>-in-</a:t>
            </a:r>
            <a:r>
              <a:rPr lang="cs-CZ" noProof="0" dirty="0" err="1"/>
              <a:t>the</a:t>
            </a:r>
            <a:r>
              <a:rPr lang="cs-CZ" noProof="0" dirty="0"/>
              <a:t>-</a:t>
            </a:r>
            <a:r>
              <a:rPr lang="cs-CZ" noProof="0" dirty="0" err="1"/>
              <a:t>loop</a:t>
            </a:r>
            <a:r>
              <a:rPr lang="cs-CZ" noProof="0"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753098"/>
          </a:xfrm>
        </p:spPr>
        <p:txBody>
          <a:bodyPr/>
          <a:lstStyle/>
          <a:p>
            <a:pPr marL="0" lvl="0" indent="0">
              <a:buNone/>
            </a:pPr>
            <a:r>
              <a:rPr lang="cs-CZ" noProof="0" dirty="0"/>
              <a:t>Děkujeme za pozornost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1020</Words>
  <Application>Microsoft Office PowerPoint</Application>
  <PresentationFormat>On-screen Show (16:9)</PresentationFormat>
  <Paragraphs>129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Arial</vt:lpstr>
      <vt:lpstr>Calibri</vt:lpstr>
      <vt:lpstr>Courier</vt:lpstr>
      <vt:lpstr>Office Theme</vt:lpstr>
      <vt:lpstr>EcoHome a.s.</vt:lpstr>
      <vt:lpstr>Obsah prezentace</vt:lpstr>
      <vt:lpstr>EcoHome a.s. — fiktivní zadavatel</vt:lpstr>
      <vt:lpstr>Cíl projektu</vt:lpstr>
      <vt:lpstr>Definovaná KPI</vt:lpstr>
      <vt:lpstr>Architektura</vt:lpstr>
      <vt:lpstr>Datový tok</vt:lpstr>
      <vt:lpstr>Zdroje dat</vt:lpstr>
      <vt:lpstr>DuckDB - tabulky</vt:lpstr>
      <vt:lpstr>DuckDB UI — přehled dat</vt:lpstr>
      <vt:lpstr>DuckDB UI — dotazy nad daty</vt:lpstr>
      <vt:lpstr>DuckDB UI — analytický pohled</vt:lpstr>
      <vt:lpstr>Graf 1 — Vývoj GDR v čase</vt:lpstr>
      <vt:lpstr>Graf 1 — Vývoj GDR v čase</vt:lpstr>
      <vt:lpstr>Graf 2 — Oblačnost vs. solární výroba</vt:lpstr>
      <vt:lpstr>Graf 2 — Oblačnost vs. solární výroba</vt:lpstr>
      <vt:lpstr>Graf 3 — Kachní křivka (denní profil)</vt:lpstr>
      <vt:lpstr>Graf 3 — Kachní křivka (denní profil)</vt:lpstr>
      <vt:lpstr>Graf 4 — Distribuce PLC</vt:lpstr>
      <vt:lpstr>Graf 4 — Distribuce PLC</vt:lpstr>
      <vt:lpstr>Graf 5 — Outliery ve spotřebě</vt:lpstr>
      <vt:lpstr>Graf 5 — Outliery ve spotřebě</vt:lpstr>
      <vt:lpstr>Graf 6 — Vývoj DQS v čase</vt:lpstr>
      <vt:lpstr>Graf 6 — Vývoj DQS v čase</vt:lpstr>
      <vt:lpstr>Graf 7 — Spotřeba (log. škála)</vt:lpstr>
      <vt:lpstr>Graf 7 — Spotřeba (log. škála)</vt:lpstr>
      <vt:lpstr>Shrnutí klíčových zjištění</vt:lpstr>
      <vt:lpstr>Limity řešení</vt:lpstr>
      <vt:lpstr>Doporučení a budoucnost</vt:lpstr>
      <vt:lpstr>Metodika a využití AI</vt:lpstr>
      <vt:lpstr>Děkujeme za pozornost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EcoHome a.s.</dc:title>
  <dc:creator>xhero003 · xherp003 · xvebv002</dc:creator>
  <cp:keywords/>
  <cp:lastModifiedBy>Herian Ondřej (S-PEF)</cp:lastModifiedBy>
  <cp:revision>2</cp:revision>
  <dcterms:created xsi:type="dcterms:W3CDTF">2026-04-19T11:51:37Z</dcterms:created>
  <dcterms:modified xsi:type="dcterms:W3CDTF">2026-04-19T12:06:51Z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Zpracování velkých dat · PEF ČZU · LS 2026</vt:lpwstr>
  </property>
  <property fmtid="{D5CDD505-2E9C-101B-9397-08002B2CF9AE}" pid="3" name="subtitle">
    <vt:lpwstr>Datový produkt pro optimalizaci spotřeby domácností s FVE</vt:lpwstr>
  </property>
</Properties>
</file>